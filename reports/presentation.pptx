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529B"/>
                </a:solidFill>
              </a:defRPr>
            </a:pPr>
            <a:r>
              <a:t>HEALTHCARE FRAUD DETECTION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End-to-End Machine Learning Pipeline</a:t>
            </a:r>
          </a:p>
          <a:p>
            <a:r>
              <a:t>From Raw Data to Business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Data Science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529B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029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0000"/>
                </a:solidFill>
              </a:defRPr>
            </a:pPr>
            <a:r>
              <a:t>PROBLEM STATEMENT</a:t>
            </a:r>
          </a:p>
          <a:p>
            <a:pPr/>
            <a:r>
              <a:t>• Healthcare fraud costs $80B+ annually in the US</a:t>
            </a:r>
          </a:p>
          <a:p>
            <a:pPr/>
            <a:r>
              <a:t>• Traditional detection methods are reactive and inefficient</a:t>
            </a:r>
          </a:p>
          <a:p>
            <a:pPr/>
            <a:r>
              <a:t>• Manual review processes are costly and slow</a:t>
            </a:r>
          </a:p>
          <a:p>
            <a:br/>
            <a:pPr>
              <a:defRPr sz="1600" b="1">
                <a:solidFill>
                  <a:srgbClr val="007800"/>
                </a:solidFill>
              </a:defRPr>
            </a:pPr>
            <a:r>
              <a:t>OUR SOLUTION</a:t>
            </a:r>
          </a:p>
          <a:p>
            <a:pPr/>
            <a:r>
              <a:t>• Predictive ML model identifying high-risk providers</a:t>
            </a:r>
          </a:p>
          <a:p>
            <a:pPr/>
            <a:r>
              <a:t>• Proactive fraud detection before payments</a:t>
            </a:r>
          </a:p>
          <a:p>
            <a:pPr/>
            <a:r>
              <a:t>• 76% recall rate for fraud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645920"/>
            <a:ext cx="5029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529B"/>
                </a:solidFill>
              </a:defRPr>
            </a:pPr>
            <a:r>
              <a:t>BUSINESS IMPACT</a:t>
            </a:r>
          </a:p>
          <a:p>
            <a:pPr/>
            <a:r>
              <a:t>Financial Results:</a:t>
            </a:r>
          </a:p>
          <a:p>
            <a:pPr lvl="1"/>
            <a:r>
              <a:t>• $1.99M positive net impact</a:t>
            </a:r>
          </a:p>
          <a:p>
            <a:pPr lvl="1"/>
            <a:r>
              <a:t>• 66 false positives ($660K investigation cost)</a:t>
            </a:r>
          </a:p>
          <a:p>
            <a:pPr lvl="1"/>
            <a:r>
              <a:t>• 24 false negatives ($1.2M missed fraud)</a:t>
            </a:r>
          </a:p>
          <a:p>
            <a:pPr lvl="1"/>
            <a:r>
              <a:t>• True positives recovered $3.85M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00529B"/>
                </a:solidFill>
              </a:defRPr>
            </a:pPr>
            <a:r>
              <a:t>Data Architecture &amp;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3657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29B"/>
                </a:solidFill>
              </a:defRPr>
            </a:pPr>
            <a:r>
              <a:t>DATA SOURCES</a:t>
            </a:r>
          </a:p>
          <a:p>
            <a:pPr>
              <a:defRPr sz="1400"/>
            </a:pPr>
            <a:r>
              <a:t>🏥 Inpatient Claims (541K records)</a:t>
            </a:r>
          </a:p>
          <a:p>
            <a:pPr>
              <a:defRPr sz="1400"/>
            </a:pPr>
            <a:r>
              <a:t>🏥 Outpatient Claims (1.2M records)</a:t>
            </a:r>
          </a:p>
          <a:p>
            <a:pPr>
              <a:defRPr sz="1400"/>
            </a:pPr>
            <a:r>
              <a:t>👥 Beneficiary Demographics (135K records)</a:t>
            </a:r>
          </a:p>
          <a:p>
            <a:pPr>
              <a:defRPr sz="1400"/>
            </a:pPr>
            <a:r>
              <a:t>⚖️ Fraud Labels (2,347 providers)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645920"/>
            <a:ext cx="3657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29B"/>
                </a:solidFill>
              </a:defRPr>
            </a:pPr>
            <a:r>
              <a:t>DATA PROCESSING PIPELINE</a:t>
            </a:r>
          </a:p>
          <a:p>
            <a:pPr>
              <a:defRPr sz="1400"/>
            </a:pPr>
            <a:r>
              <a:t>1. Data Validation &amp; Cleaning</a:t>
            </a:r>
          </a:p>
          <a:p>
            <a:pPr>
              <a:defRPr sz="1400"/>
            </a:pPr>
            <a:r>
              <a:t>2. Temporal Aggregation</a:t>
            </a:r>
          </a:p>
          <a:p>
            <a:pPr>
              <a:defRPr sz="1400"/>
            </a:pPr>
            <a:r>
              <a:t>3. Provider-level Feature Engineering</a:t>
            </a:r>
          </a:p>
          <a:p>
            <a:pPr>
              <a:defRPr sz="1400"/>
            </a:pPr>
            <a:r>
              <a:t>4. Missing Value Imputation</a:t>
            </a:r>
          </a:p>
          <a:p>
            <a:pPr>
              <a:defRPr sz="1400"/>
            </a:pPr>
            <a:r>
              <a:t>5. Feature Scaling &amp; Encoding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00529B"/>
                </a:solidFill>
              </a:defRPr>
            </a:pPr>
            <a:r>
              <a:t>Advanced 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3200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529B"/>
                </a:solidFill>
              </a:defRPr>
            </a:pPr>
            <a:r>
              <a:t>💰 Financial Features</a:t>
            </a:r>
          </a:p>
          <a:p>
            <a:pPr>
              <a:defRPr sz="1200"/>
            </a:pPr>
            <a:r>
              <a:t>• Total_Amount_Reimbursed</a:t>
            </a:r>
          </a:p>
          <a:p>
            <a:pPr>
              <a:defRPr sz="1200"/>
            </a:pPr>
            <a:r>
              <a:t>• Avg_Claim_Amount</a:t>
            </a:r>
          </a:p>
          <a:p>
            <a:pPr>
              <a:defRPr sz="1200"/>
            </a:pPr>
            <a:r>
              <a:t>• Inpatient/Outpatient_Ratio</a:t>
            </a:r>
          </a:p>
          <a:p>
            <a:pPr>
              <a:defRPr sz="1200"/>
            </a:pPr>
            <a:r>
              <a:t>• Claim_Frequency_Patterns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1645920"/>
            <a:ext cx="3200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529B"/>
                </a:solidFill>
              </a:defRPr>
            </a:pPr>
            <a:r>
              <a:t>📊 Behavioral Features</a:t>
            </a:r>
          </a:p>
          <a:p>
            <a:pPr>
              <a:defRPr sz="1200"/>
            </a:pPr>
            <a:r>
              <a:t>• Provider_Claim_Variability</a:t>
            </a:r>
          </a:p>
          <a:p>
            <a:pPr>
              <a:defRPr sz="1200"/>
            </a:pPr>
            <a:r>
              <a:t>• Temporal_Billing_Patterns</a:t>
            </a:r>
          </a:p>
          <a:p>
            <a:pPr>
              <a:defRPr sz="1200"/>
            </a:pPr>
            <a:r>
              <a:t>• Procedure_Code_Diversity</a:t>
            </a:r>
          </a:p>
          <a:p>
            <a:pPr>
              <a:defRPr sz="1200"/>
            </a:pPr>
            <a:r>
              <a:t>• Beneficiary_Revisit_Rate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645920"/>
            <a:ext cx="3200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529B"/>
                </a:solidFill>
              </a:defRPr>
            </a:pPr>
            <a:r>
              <a:t>🔍 Anomaly Detection Features</a:t>
            </a:r>
          </a:p>
          <a:p>
            <a:pPr>
              <a:defRPr sz="1200"/>
            </a:pPr>
            <a:r>
              <a:t>• Z-score_Amount_Deviations</a:t>
            </a:r>
          </a:p>
          <a:p>
            <a:pPr>
              <a:defRPr sz="1200"/>
            </a:pPr>
            <a:r>
              <a:t>• IQR_Outlier_Flags</a:t>
            </a:r>
          </a:p>
          <a:p>
            <a:pPr>
              <a:defRPr sz="1200"/>
            </a:pPr>
            <a:r>
              <a:t>• Cluster_Anomaly_Scores</a:t>
            </a:r>
          </a:p>
          <a:p>
            <a:pPr>
              <a:defRPr sz="1200"/>
            </a:pPr>
            <a:r>
              <a:t>• Seasonal_Deviation_Metrics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00529B"/>
                </a:solidFill>
              </a:defRPr>
            </a:pPr>
            <a:r>
              <a:t>Model Architecture &amp; Training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4572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29B"/>
                </a:solidFill>
              </a:defRPr>
            </a:pPr>
            <a:r>
              <a:t>MODEL SELECTION PROCESS</a:t>
            </a:r>
          </a:p>
          <a:p>
            <a:pPr>
              <a:defRPr sz="1400"/>
            </a:pPr>
            <a:r>
              <a:t>✓ Random Forest (Selected)</a:t>
            </a:r>
          </a:p>
          <a:p>
            <a:pPr>
              <a:defRPr sz="1400"/>
            </a:pPr>
            <a:r>
              <a:t>• Gradient Boosting Machines</a:t>
            </a:r>
          </a:p>
          <a:p>
            <a:pPr>
              <a:defRPr sz="1400"/>
            </a:pPr>
            <a:r>
              <a:t>• Logistic Regression with Regularization</a:t>
            </a:r>
          </a:p>
          <a:p>
            <a:pPr>
              <a:defRPr sz="1400"/>
            </a:pPr>
            <a:r>
              <a:t>• Neural Network Classifier</a:t>
            </a:r>
          </a:p>
          <a:p>
            <a:pPr>
              <a:defRPr sz="1400"/>
            </a:pPr>
            <a:r>
              <a:t>• Ensemble Voting Classifier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645920"/>
            <a:ext cx="4572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29B"/>
                </a:solidFill>
              </a:defRPr>
            </a:pPr>
            <a:r>
              <a:t>TRAINING STRATEGY</a:t>
            </a:r>
          </a:p>
          <a:p>
            <a:pPr>
              <a:defRPr sz="1400"/>
            </a:pPr>
            <a:r>
              <a:t>• Stratified 5-Fold Cross Validation</a:t>
            </a:r>
          </a:p>
          <a:p>
            <a:pPr>
              <a:defRPr sz="1400"/>
            </a:pPr>
            <a:r>
              <a:t>• Class Weight Balancing</a:t>
            </a:r>
          </a:p>
          <a:p>
            <a:pPr>
              <a:defRPr sz="1400"/>
            </a:pPr>
            <a:r>
              <a:t>• Hyperparameter Grid Search</a:t>
            </a:r>
          </a:p>
          <a:p>
            <a:pPr>
              <a:defRPr sz="1400"/>
            </a:pPr>
            <a:r>
              <a:t>• Early Stopping with Validation Set</a:t>
            </a:r>
          </a:p>
          <a:p>
            <a:pPr>
              <a:defRPr sz="1400"/>
            </a:pPr>
            <a:r>
              <a:t>• Feature Importance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00529B"/>
                </a:solidFill>
              </a:defRPr>
            </a:pPr>
            <a:r>
              <a:t>Comprehensive Performance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529B"/>
                </a:solidFill>
              </a:defRPr>
            </a:pPr>
            <a:r>
              <a:t>Precision: 0.538</a:t>
            </a:r>
          </a:p>
          <a:p>
            <a:pPr>
              <a:defRPr sz="1200">
                <a:solidFill>
                  <a:srgbClr val="646464"/>
                </a:solidFill>
              </a:defRPr>
            </a:pPr>
            <a:r>
              <a:t>53.8% of flagged providers are actually fraudulent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529B"/>
                </a:solidFill>
              </a:defRPr>
            </a:pPr>
            <a:r>
              <a:t>Recall: 0.762</a:t>
            </a:r>
          </a:p>
          <a:p>
            <a:pPr>
              <a:defRPr sz="1200">
                <a:solidFill>
                  <a:srgbClr val="646464"/>
                </a:solidFill>
              </a:defRPr>
            </a:pPr>
            <a:r>
              <a:t>76.2% of fraudulent providers are correctly identified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529B"/>
                </a:solidFill>
              </a:defRPr>
            </a:pPr>
            <a:r>
              <a:t>F1-Score: 0.631</a:t>
            </a:r>
          </a:p>
          <a:p>
            <a:pPr>
              <a:defRPr sz="1200">
                <a:solidFill>
                  <a:srgbClr val="646464"/>
                </a:solidFill>
              </a:defRPr>
            </a:pPr>
            <a:r>
              <a:t>Balanced measure of precision and recall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529B"/>
                </a:solidFill>
              </a:defRPr>
            </a:pPr>
            <a:r>
              <a:t>ROC-AUC: 0.938</a:t>
            </a:r>
          </a:p>
          <a:p>
            <a:pPr>
              <a:defRPr sz="1200">
                <a:solidFill>
                  <a:srgbClr val="646464"/>
                </a:solidFill>
              </a:defRPr>
            </a:pPr>
            <a:r>
              <a:t>Excellent overall classification 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37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529B"/>
                </a:solidFill>
              </a:defRPr>
            </a:pPr>
            <a:r>
              <a:t>PR-AUC: 0.702</a:t>
            </a:r>
          </a:p>
          <a:p>
            <a:pPr>
              <a:defRPr sz="1200">
                <a:solidFill>
                  <a:srgbClr val="646464"/>
                </a:solidFill>
              </a:defRPr>
            </a:pPr>
            <a:r>
              <a:t>Strong performance on imbalanced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00529B"/>
                </a:solidFill>
              </a:defRPr>
            </a:pPr>
            <a:r>
              <a:t>Business Impact &amp; ROI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4572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29B"/>
                </a:solidFill>
              </a:defRPr>
            </a:pPr>
            <a:r>
              <a:t>COST-BENEFIT BREAKDOWN</a:t>
            </a:r>
          </a:p>
          <a:p>
            <a:pPr>
              <a:defRPr sz="1400"/>
            </a:pPr>
            <a:r>
              <a:t>• Investigation Cost per FP: $10,000</a:t>
            </a:r>
          </a:p>
          <a:p>
            <a:pPr>
              <a:defRPr sz="1400"/>
            </a:pPr>
            <a:r>
              <a:t>• Missed Fraud per FN: $50,000</a:t>
            </a:r>
          </a:p>
          <a:p>
            <a:pPr>
              <a:defRPr sz="1400"/>
            </a:pPr>
            <a:r>
              <a:t>• Total FP Cost (66 cases): $660,000</a:t>
            </a:r>
          </a:p>
          <a:p>
            <a:pPr>
              <a:defRPr sz="1400"/>
            </a:pPr>
            <a:r>
              <a:t>• Total FN Cost (24 cases): $1,200,000</a:t>
            </a:r>
          </a:p>
          <a:p>
            <a:pPr>
              <a:defRPr sz="1400"/>
            </a:pPr>
            <a:r>
              <a:t>• Model Development: $150,000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645920"/>
            <a:ext cx="4572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7800"/>
                </a:solidFill>
              </a:defRPr>
            </a:pPr>
            <a:r>
              <a:t>FINANCIAL IMPACT</a:t>
            </a:r>
          </a:p>
          <a:p>
            <a:pPr>
              <a:defRPr sz="1400"/>
            </a:pPr>
            <a:r>
              <a:t>• Fraud Recovered (TP): $3,850,000</a:t>
            </a:r>
          </a:p>
          <a:p>
            <a:pPr>
              <a:defRPr sz="1400"/>
            </a:pPr>
            <a:r>
              <a:t>• Total Costs: $2,010,000</a:t>
            </a:r>
          </a:p>
          <a:p>
            <a:pPr>
              <a:defRPr sz="1400" b="1">
                <a:solidFill>
                  <a:srgbClr val="009600"/>
                </a:solidFill>
              </a:defRPr>
            </a:pPr>
            <a:r>
              <a:t>• NET IMPACT: $1,840,000</a:t>
            </a:r>
          </a:p>
          <a:p>
            <a:pPr>
              <a:defRPr sz="1400"/>
            </a:pPr>
            <a:r>
              <a:t>• ROI: 92%</a:t>
            </a:r>
          </a:p>
          <a:p>
            <a:pPr>
              <a:defRPr sz="1400"/>
            </a:pPr>
            <a:r>
              <a:t>• Payback Period: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00529B"/>
                </a:solidFill>
              </a:defRPr>
            </a:pPr>
            <a:r>
              <a:t>Error Analysis &amp; Case Studies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029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0000"/>
                </a:solidFill>
              </a:defRPr>
            </a:pPr>
            <a:r>
              <a:t>🔍 FALSE POSITIVE ANALYSIS</a:t>
            </a:r>
          </a:p>
          <a:p>
            <a:pPr>
              <a:defRPr sz="1200"/>
            </a:pPr>
            <a:r>
              <a:t>• High-volume legitimate providers</a:t>
            </a:r>
          </a:p>
          <a:p>
            <a:pPr>
              <a:defRPr sz="1200"/>
            </a:pPr>
            <a:r>
              <a:t>• Specialized treatment centers</a:t>
            </a:r>
          </a:p>
          <a:p>
            <a:pPr>
              <a:defRPr sz="1200"/>
            </a:pPr>
            <a:r>
              <a:t>• Regional billing variations</a:t>
            </a:r>
          </a:p>
          <a:p>
            <a:pPr>
              <a:defRPr sz="1200"/>
            </a:pPr>
            <a:r>
              <a:t>• New provider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645920"/>
            <a:ext cx="5029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8C00"/>
                </a:solidFill>
              </a:defRPr>
            </a:pPr>
            <a:r>
              <a:t>⚠️ FALSE NEGATIVE ANALYSIS</a:t>
            </a:r>
          </a:p>
          <a:p>
            <a:pPr>
              <a:defRPr sz="1200"/>
            </a:pPr>
            <a:r>
              <a:t>• Sophisticated fraud schemes</a:t>
            </a:r>
          </a:p>
          <a:p>
            <a:pPr>
              <a:defRPr sz="1200"/>
            </a:pPr>
            <a:r>
              <a:t>• Low-and-slow fraud patterns</a:t>
            </a:r>
          </a:p>
          <a:p>
            <a:pPr>
              <a:defRPr sz="1200"/>
            </a:pPr>
            <a:r>
              <a:t>• Collusive provider networks</a:t>
            </a:r>
          </a:p>
          <a:p>
            <a:pPr>
              <a:defRPr sz="1200"/>
            </a:pPr>
            <a:r>
              <a:t>• Seasonal fraud masking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529B"/>
                </a:solidFill>
              </a:defRPr>
            </a:pPr>
            <a:r>
              <a:t>📋 REPRESENTATIVE CASE STUDIES</a:t>
            </a:r>
          </a:p>
          <a:p>
            <a:pPr>
              <a:defRPr sz="1100"/>
            </a:pPr>
            <a:r>
              <a:t>• Case 1: PRV52573 - High outpatient volume triggered FP (0.73 probability)</a:t>
            </a:r>
          </a:p>
          <a:p>
            <a:pPr>
              <a:defRPr sz="1100"/>
            </a:pPr>
            <a:r>
              <a:t>• Case 2: PRV56591 - Sophisticated billing pattern missed (0.16 probability)</a:t>
            </a:r>
          </a:p>
          <a:p>
            <a:pPr>
              <a:defRPr sz="1100"/>
            </a:pPr>
            <a:r>
              <a:t>• Case 3: PRV57667 - Zero probability prediction for actual fraud case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00529B"/>
                </a:solidFill>
              </a:defRPr>
            </a:pPr>
            <a:r>
              <a:t>Implementation Roadmap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529B"/>
                </a:solidFill>
              </a:defRPr>
            </a:pPr>
            <a:r>
              <a:t>Phase 1: Q1 2024: Production Deployment &amp; Monitoring</a:t>
            </a:r>
          </a:p>
          <a:p>
            <a:pPr>
              <a:defRPr sz="1200"/>
            </a:pPr>
            <a:r>
              <a:t>• Real-time scoring API</a:t>
            </a:r>
          </a:p>
          <a:p>
            <a:pPr>
              <a:defRPr sz="1200"/>
            </a:pPr>
            <a:r>
              <a:t>• Dashboard development</a:t>
            </a:r>
          </a:p>
          <a:p>
            <a:pPr>
              <a:defRPr sz="1200"/>
            </a:pPr>
            <a:r>
              <a:t>• Alert system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529B"/>
                </a:solidFill>
              </a:defRPr>
            </a:pPr>
            <a:r>
              <a:t>Phase 2: Q2 2024: Model Enhancement</a:t>
            </a:r>
          </a:p>
          <a:p>
            <a:pPr>
              <a:defRPr sz="1200"/>
            </a:pPr>
            <a:r>
              <a:t>• Additional data sources</a:t>
            </a:r>
          </a:p>
          <a:p>
            <a:pPr>
              <a:defRPr sz="1200"/>
            </a:pPr>
            <a:r>
              <a:t>• Deep learning integration</a:t>
            </a:r>
          </a:p>
          <a:p>
            <a:pPr>
              <a:defRPr sz="1200"/>
            </a:pPr>
            <a:r>
              <a:t>• Network analysis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529B"/>
                </a:solidFill>
              </a:defRPr>
            </a:pPr>
            <a:r>
              <a:t>Phase 3: Q3 2024: Advanced Capabilities</a:t>
            </a:r>
          </a:p>
          <a:p>
            <a:pPr>
              <a:defRPr sz="1200"/>
            </a:pPr>
            <a:r>
              <a:t>• Predictive analytics expansion</a:t>
            </a:r>
          </a:p>
          <a:p>
            <a:pPr>
              <a:defRPr sz="1200"/>
            </a:pPr>
            <a:r>
              <a:t>• Automated investigation workflows</a:t>
            </a:r>
          </a:p>
          <a:p>
            <a:pPr>
              <a:defRPr sz="1200"/>
            </a:pPr>
            <a:r>
              <a:t>• Multi-year pattern analysis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00529B"/>
                </a:solidFill>
              </a:defRPr>
            </a:pPr>
            <a:r>
              <a:t>Strategic Recommendations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3200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529B"/>
                </a:solidFill>
              </a:defRPr>
            </a:pPr>
            <a:r>
              <a:t>🚀 IMMEDIATE ACTIONS</a:t>
            </a:r>
          </a:p>
          <a:p>
            <a:pPr>
              <a:defRPr sz="1100"/>
            </a:pPr>
            <a:r>
              <a:t>• Deploy model to production environment</a:t>
            </a:r>
          </a:p>
          <a:p>
            <a:pPr>
              <a:defRPr sz="1100"/>
            </a:pPr>
            <a:r>
              <a:t>• Establish fraud investigation workflow</a:t>
            </a:r>
          </a:p>
          <a:p>
            <a:pPr>
              <a:defRPr sz="1100"/>
            </a:pPr>
            <a:r>
              <a:t>• Train claims analysts on model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1645920"/>
            <a:ext cx="3200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529B"/>
                </a:solidFill>
              </a:defRPr>
            </a:pPr>
            <a:r>
              <a:t>📈 MEDIUM-TERM INITIATIVES</a:t>
            </a:r>
          </a:p>
          <a:p>
            <a:pPr>
              <a:defRPr sz="1100"/>
            </a:pPr>
            <a:r>
              <a:t>• Expand feature set with external data</a:t>
            </a:r>
          </a:p>
          <a:p>
            <a:pPr>
              <a:defRPr sz="1100"/>
            </a:pPr>
            <a:r>
              <a:t>• Implement model retraining pipeline</a:t>
            </a:r>
          </a:p>
          <a:p>
            <a:pPr>
              <a:defRPr sz="1100"/>
            </a:pPr>
            <a:r>
              <a:t>• Develop provider risk scoring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645920"/>
            <a:ext cx="3200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529B"/>
                </a:solidFill>
              </a:defRPr>
            </a:pPr>
            <a:r>
              <a:t>🎯 LONG-TERM STRATEGY</a:t>
            </a:r>
          </a:p>
          <a:p>
            <a:pPr>
              <a:defRPr sz="1100"/>
            </a:pPr>
            <a:r>
              <a:t>• Build predictive fraud prevention system</a:t>
            </a:r>
          </a:p>
          <a:p>
            <a:pPr>
              <a:defRPr sz="1100"/>
            </a:pPr>
            <a:r>
              <a:t>• Establish industry benchmarking</a:t>
            </a:r>
          </a:p>
          <a:p>
            <a:pPr>
              <a:defRPr sz="1100"/>
            </a:pPr>
            <a:r>
              <a:t>• Create fraud pattern intelligence 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29B"/>
                </a:solidFill>
              </a:defRPr>
            </a:pPr>
            <a:r>
              <a:t>CONCLUSION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Our machine learning pipeline demonstrates significant value in healthcare fraud detection, achieving 76% recall of fraudulent providers with a positive net impact of $1.84M. The systematic approach from data to deployment ensures sustainable, scalable fraud prevention.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